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Opportunity score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4F6F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AEEC → LZ_WEST</c:v>
                  </c:pt>
                  <c:pt idx="1">
                    <c:v>PENA_ALL → LZ_CPS</c:v>
                  </c:pt>
                  <c:pt idx="2">
                    <c:v>HB_WEST → LZ_WEST</c:v>
                  </c:pt>
                  <c:pt idx="3">
                    <c:v>HB_NORTH → LZ_NORTH</c:v>
                  </c:pt>
                  <c:pt idx="4">
                    <c:v>MERCURY_ALL → HB_NORTH</c:v>
                  </c:pt>
                  <c:pt idx="5">
                    <c:v>STP_STP_G1 → LZ_CPS</c:v>
                  </c:pt>
                  <c:pt idx="6">
                    <c:v>OUTP_SLR_RN → SAN_SANMIGG1</c:v>
                  </c:pt>
                  <c:pt idx="7">
                    <c:v>STP_STP_G2 → LZ_CPS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71.3</c:v>
                </c:pt>
                <c:pt idx="1">
                  <c:v>70.5</c:v>
                </c:pt>
                <c:pt idx="2">
                  <c:v>65.2</c:v>
                </c:pt>
                <c:pt idx="3">
                  <c:v>56.1</c:v>
                </c:pt>
                <c:pt idx="4">
                  <c:v>55.6</c:v>
                </c:pt>
                <c:pt idx="5">
                  <c:v>55.1</c:v>
                </c:pt>
                <c:pt idx="6">
                  <c:v>55</c:v>
                </c:pt>
                <c:pt idx="7">
                  <c:v>54.2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4F6F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5B4"/>
                </a:solidFill>
                <a:latin typeface="Consola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9525" cap="flat">
              <a:solidFill>
                <a:srgbClr val="23293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5B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2161F"/>
        </a:solidFill>
        <a:ln>
          <a:noFill/>
        </a:ln>
        <a:effectLst/>
      </c:spPr>
    </c:plotArea>
    <c:plotVisOnly val="1"/>
    <c:dispBlanksAs val="span"/>
  </c:chart>
  <c:spPr>
    <a:solidFill>
      <a:srgbClr val="0A0D13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notional ($)</c:v>
                </c:pt>
              </c:strCache>
            </c:strRef>
          </c:tx>
          <c:spPr>
            <a:solidFill>
              <a:srgbClr val="2E7CE0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F4F6F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LUMINANT ENERGY COMPANY LLC REPS (CRRAH)</c:v>
                  </c:pt>
                  <c:pt idx="1">
                    <c:v>CPS ENERGY (CRRAH)</c:v>
                  </c:pt>
                  <c:pt idx="2">
                    <c:v>NRG TEXAS POWER LLC (LOAD) (CRRAH)</c:v>
                  </c:pt>
                  <c:pt idx="3">
                    <c:v>MERCURIA ENERGY AMERICA LLC 1 (CRRAH)</c:v>
                  </c:pt>
                  <c:pt idx="4">
                    <c:v>NRG BUSINESS MARKETING LLC (CRRAH)</c:v>
                  </c:pt>
                  <c:pt idx="5">
                    <c:v>GOLDEN SPREAD ELECTRIC COOPERATIVE INC (CRRAH)</c:v>
                  </c:pt>
                  <c:pt idx="6">
                    <c:v>CPS ENERGY 2 (CRRAH)</c:v>
                  </c:pt>
                  <c:pt idx="7">
                    <c:v>JUST ENERGY LIMITED (CRRAH)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156172</c:v>
                </c:pt>
                <c:pt idx="1">
                  <c:v>123268</c:v>
                </c:pt>
                <c:pt idx="2">
                  <c:v>116175</c:v>
                </c:pt>
                <c:pt idx="3">
                  <c:v>47864</c:v>
                </c:pt>
                <c:pt idx="4">
                  <c:v>38294</c:v>
                </c:pt>
                <c:pt idx="5">
                  <c:v>35546</c:v>
                </c:pt>
                <c:pt idx="6">
                  <c:v>31430</c:v>
                </c:pt>
                <c:pt idx="7">
                  <c:v>19238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950" u="none">
                  <a:solidFill>
                    <a:srgbClr val="F4F6F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5B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9525" cap="flat">
              <a:solidFill>
                <a:srgbClr val="232937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5B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2161F"/>
        </a:solidFill>
        <a:ln>
          <a:noFill/>
        </a:ln>
        <a:effectLst/>
      </c:spPr>
    </c:plotArea>
    <c:plotVisOnly val="1"/>
    <c:dispBlanksAs val="span"/>
  </c:chart>
  <c:spPr>
    <a:solidFill>
      <a:srgbClr val="0A0D13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0:00-2:00 — Welcome. Frame the session: this is a capstone about using AI across the whole software lifecycle to build real market-intelligence tooling for ERCOT CRRs, not just to write code faster.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2:00-3:00 — Walk the five sections and the rough timing so the room knows the shape of the hour.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3:00-6:00 — Explain LMP and congestion conceptually before naming CRRs. The West-&gt;Houston example is the real dominant ERCOT congestion story (renewables in the west/panhandle needing to reach coastal/urban load) and is the same pair the app scores highest later — tie it back then.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6:00-9:00 — Keep this brief; the goal is just enough vocabulary for the demo to make sense, not a full CRR certification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9:00-11:00 — This is the scope we'll hold ourselves to in the demo section; call back to each bullet as you click through the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11:00-14:00 — This is the spine of the AI-workflow section; each card gets its own detail slide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14:00-17:00 — This is the single most important story in the whole build, and it has two acts, not one: the honest 'can't reach it' finding in entry 1, AND the willingness in entry 9 to re-test that same assumption later instead of treating it as settled — which is what actually unlocked the real data. Both halves matter for the grade: verify before designing, and don't let an earlier honest answer calcify into an unquestioned constraint.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34:00-37:00 (post-demo) — Emphasize the pure-function core: it's the reason the demo you just saw and the numbers in the tests are guaranteed to agree.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17:00-37:00 — This slide is the live-demo cue card. Actually tab through the running application here for ~20 minutes; the next four slides are a fallback in case of technical issues.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Fallback only. This chart is generated from real, settled ERCOT auction data (regenerate via `python scripts/export_snapshot.py` after any data refresh) — whatever tops this list is genuinely today's highest-scoring tracked corridor, not a fixed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Fallback only. These are real CRR Account Holder names from ERCOT's own Market Participants List (NP12-215-ER) — not the fictional placeholders used only when no real data is present, see slide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37:00-45:00 — Show the terminal output of `python -m pytest -q` live if possible: `30 passed`.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45:00-53:00 — Be candid here; this is the reflective core of a capstone grade.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53:00-56:00 — Move briskly; full detail lives in the lessons-learned doc.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56:00-60:00 — Open floor. Likely questions: how the synthetic data was calibrated, why rule-based scoring over ML, and what real MIS access would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MASTER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cons/z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19659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4F6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ERCOT CRR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26974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DDC9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 Analytics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7033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AI-built prototype for Congestion Revenue Rights market intelligence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548640" y="4343400"/>
            <a:ext cx="2926080" cy="0"/>
          </a:xfrm>
          <a:prstGeom prst="line">
            <a:avLst/>
          </a:prstGeom>
          <a:noFill/>
          <a:ln w="12700">
            <a:solidFill>
              <a:srgbClr val="23293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526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Saif  ·  ETRM Implementation Consultant, Veritas (an Oliver Wyman business)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8463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Capstone  ·  Built end-to-end with Claude (requirements → design → code → tests)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6868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Sixty minutes, five parts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80136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ERCOT power markets &amp; CRRs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16712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LMP, congestion, Source/Sink, Option vs. Obligation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9966960" y="19202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min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69748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AI-assisted workflow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308152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Requirements, prompt journal, and validation as we went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9966960" y="28346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min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61188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63016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application demo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399592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→ Explorer → Participants → Opportunity Signals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9966960" y="37490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min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52628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454456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&amp; testing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91032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real, what's synthetic, and how it's proven correct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9966960" y="46634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min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44068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45896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Lessons learned &amp; what's next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582472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AI made easier, what still needed judgment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9966960" y="55778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min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136599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ERCOT FUNDAMENTALS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686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location matters in ERCOT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55448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ERCOT is a nodal market: the price of energy differs by location (Locational Marginal Price) whenever transmission is constrained. Generation in windy West Texas often can't fully reach load in Houston — that gap in price between two points is congestion.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306324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Congestion Revenue Right (CRR) is a financial instrument that pays the holder the difference in LMP between a Source and a Sink. ERCOT auctions them monthly and annually so market participants can hedge — or take a view on — that locational spread.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675120" y="1737360"/>
            <a:ext cx="2011680" cy="1005840"/>
          </a:xfrm>
          <a:prstGeom prst="roundRect">
            <a:avLst>
              <a:gd name="adj" fmla="val 9091"/>
            </a:avLst>
          </a:prstGeom>
          <a:solidFill>
            <a:srgbClr val="12161F"/>
          </a:solidFill>
          <a:ln w="12700">
            <a:solidFill>
              <a:srgbClr val="23293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0" y="18288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1031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6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HB_WEST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601200" y="1737360"/>
            <a:ext cx="2011680" cy="1005840"/>
          </a:xfrm>
          <a:prstGeom prst="roundRect">
            <a:avLst>
              <a:gd name="adj" fmla="val 9091"/>
            </a:avLst>
          </a:prstGeom>
          <a:solidFill>
            <a:srgbClr val="12161F"/>
          </a:solidFill>
          <a:ln w="12700">
            <a:solidFill>
              <a:srgbClr val="23293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0" y="18288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SINK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601200" y="21031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6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HB_HOUSTON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686800" y="2240280"/>
            <a:ext cx="914400" cy="0"/>
          </a:xfrm>
          <a:prstGeom prst="line">
            <a:avLst/>
          </a:prstGeom>
          <a:noFill/>
          <a:ln w="31750">
            <a:solidFill>
              <a:srgbClr val="3DDC97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6675120" y="28346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congestion value ($/MWh)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324612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CRR holder on this path is paid (or pays) that spread every settlement — that's the value this app measures historically.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62636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Reference: ERCOT Locational Marginal Pricing WBT · Wholesale Markets 101 · Congestion Revenue Rights WBT (ercot.com/services/training)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1136599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ERCOT FUNDAMENTALS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686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CRR types, one underlying question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12161F"/>
          </a:solidFill>
          <a:ln w="12700">
            <a:solidFill>
              <a:srgbClr val="23293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OBLIGATION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7744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Pays (or charges) the full LMP spread every hour — symmetric exposure. If the path decongests or reverses, an Obligation holder can owe money.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22960" y="3977640"/>
            <a:ext cx="4754880" cy="0"/>
          </a:xfrm>
          <a:prstGeom prst="line">
            <a:avLst/>
          </a:prstGeom>
          <a:noFill/>
          <a:ln w="12700">
            <a:solidFill>
              <a:srgbClr val="23293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11480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86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as this app's primary economic-value signal (Sections 05-06) because it mirrors realized congestion directly.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60020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12161F"/>
          </a:solidFill>
          <a:ln w="12700">
            <a:solidFill>
              <a:srgbClr val="23293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C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237744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Pays the LMP spread only when it's positive to the holder — the holder never owes money on the CRR itself, but pays more upfront for that protection.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83680" y="3977640"/>
            <a:ext cx="4754880" cy="0"/>
          </a:xfrm>
          <a:prstGeom prst="line">
            <a:avLst/>
          </a:prstGeom>
          <a:noFill/>
          <a:ln w="12700">
            <a:solidFill>
              <a:srgbClr val="23293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0" y="411480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86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Modeled in this app as a smaller, always-non-negative clearing price relative to the same path's Obligation value.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50749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Source/Sink explorer in this app tracks both types side-by-side for every pair, on the same chart.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136599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CAPSTONE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686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this project set out to build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13291F"/>
          </a:solidFill>
          <a:ln w="12700">
            <a:solidFill>
              <a:srgbClr val="1F4A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intelligence and analytics — not a predictive model, not a trading system.</a:t>
            </a:r>
            <a:endParaRPr lang="en-US" sz="1500" dirty="0"/>
          </a:p>
        </p:txBody>
      </p:sp>
      <p:pic>
        <p:nvPicPr>
          <p:cNvPr id="6" name="Image 0" descr="icons/gau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834640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97280" y="281635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4434840" y="2816352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Recent auctions, active participants, top Source/Sink pairs</a:t>
            </a:r>
            <a:endParaRPr lang="en-US" sz="1250" dirty="0"/>
          </a:p>
        </p:txBody>
      </p:sp>
      <p:pic>
        <p:nvPicPr>
          <p:cNvPr id="9" name="Image 1" descr="icons/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564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97280" y="3438144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Participant analysis</a:t>
            </a:r>
            <a:endParaRPr lang="en-US" sz="1450" dirty="0"/>
          </a:p>
        </p:txBody>
      </p:sp>
      <p:sp>
        <p:nvSpPr>
          <p:cNvPr id="11" name="Text 7"/>
          <p:cNvSpPr txBox="1"/>
          <p:nvPr/>
        </p:nvSpPr>
        <p:spPr>
          <a:xfrm>
            <a:off x="4434840" y="3438144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MW, notional, and pairs traded per participant</a:t>
            </a:r>
            <a:endParaRPr lang="en-US" sz="1250" dirty="0"/>
          </a:p>
        </p:txBody>
      </p:sp>
      <p:pic>
        <p:nvPicPr>
          <p:cNvPr id="12" name="Image 2" descr="icons/gitbran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078224"/>
            <a:ext cx="384048" cy="38404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0" y="4059936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Source/Sink explorer</a:t>
            </a:r>
            <a:endParaRPr lang="en-US" sz="1450" dirty="0"/>
          </a:p>
        </p:txBody>
      </p:sp>
      <p:sp>
        <p:nvSpPr>
          <p:cNvPr id="14" name="Text 9"/>
          <p:cNvSpPr txBox="1"/>
          <p:nvPr/>
        </p:nvSpPr>
        <p:spPr>
          <a:xfrm>
            <a:off x="4434840" y="4059936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pricing &amp; congestion trends, Obligation + Option</a:t>
            </a:r>
            <a:endParaRPr lang="en-US" sz="1250" dirty="0"/>
          </a:p>
        </p:txBody>
      </p:sp>
      <p:pic>
        <p:nvPicPr>
          <p:cNvPr id="15" name="Image 3" descr="icons/trend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700016"/>
            <a:ext cx="384048" cy="384048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097280" y="468172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analytics</a:t>
            </a:r>
            <a:endParaRPr lang="en-US" sz="1450" dirty="0"/>
          </a:p>
        </p:txBody>
      </p:sp>
      <p:sp>
        <p:nvSpPr>
          <p:cNvPr id="17" name="Text 11"/>
          <p:cNvSpPr txBox="1"/>
          <p:nvPr/>
        </p:nvSpPr>
        <p:spPr>
          <a:xfrm>
            <a:off x="4434840" y="4681728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Average, min/max, volatility, and trend</a:t>
            </a:r>
            <a:endParaRPr lang="en-US" sz="1250" dirty="0"/>
          </a:p>
        </p:txBody>
      </p:sp>
      <p:pic>
        <p:nvPicPr>
          <p:cNvPr id="18" name="Image 4" descr="icons/targe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321808"/>
            <a:ext cx="384048" cy="384048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97280" y="53035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 score</a:t>
            </a:r>
            <a:endParaRPr lang="en-US" sz="1450" dirty="0"/>
          </a:p>
        </p:txBody>
      </p:sp>
      <p:sp>
        <p:nvSpPr>
          <p:cNvPr id="20" name="Text 13"/>
          <p:cNvSpPr txBox="1"/>
          <p:nvPr/>
        </p:nvSpPr>
        <p:spPr>
          <a:xfrm>
            <a:off x="4434840" y="5303520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Explainable Low / Medium / High signal for further investigation</a:t>
            </a:r>
            <a:endParaRPr lang="en-US" sz="1250" dirty="0"/>
          </a:p>
        </p:txBody>
      </p:sp>
      <p:sp>
        <p:nvSpPr>
          <p:cNvPr id="21" name="Text 14"/>
          <p:cNvSpPr txBox="1"/>
          <p:nvPr/>
        </p:nvSpPr>
        <p:spPr>
          <a:xfrm>
            <a:off x="1136599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WORKFLOW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686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6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across the whole lifecycle, not just the code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2697480" cy="3566160"/>
          </a:xfrm>
          <a:prstGeom prst="roundRect">
            <a:avLst>
              <a:gd name="adj" fmla="val 2712"/>
            </a:avLst>
          </a:prstGeom>
          <a:solidFill>
            <a:srgbClr val="12161F"/>
          </a:solidFill>
          <a:ln w="12700">
            <a:solidFill>
              <a:srgbClr val="232937"/>
            </a:solidFill>
            <a:prstDash val="solid"/>
          </a:ln>
        </p:spPr>
      </p:sp>
      <p:pic>
        <p:nvPicPr>
          <p:cNvPr id="5" name="Image 0" descr="icons/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659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6060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6060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before designing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38328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 what ERCOT actually publishes (and what's programmatically reachable) before writing any code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83280" y="1737360"/>
            <a:ext cx="2697480" cy="3566160"/>
          </a:xfrm>
          <a:prstGeom prst="roundRect">
            <a:avLst>
              <a:gd name="adj" fmla="val 2712"/>
            </a:avLst>
          </a:prstGeom>
          <a:solidFill>
            <a:srgbClr val="12161F"/>
          </a:solidFill>
          <a:ln w="12700">
            <a:solidFill>
              <a:srgbClr val="232937"/>
            </a:solidFill>
            <a:prstDash val="solid"/>
          </a:ln>
        </p:spPr>
      </p:sp>
      <p:pic>
        <p:nvPicPr>
          <p:cNvPr id="10" name="Image 1" descr="icons/br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196596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3611880" y="26060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 requirements with AI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3611880" y="338328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Turned the capstone brief into a full functional/non-functional requirements doc with traceable acceptance criteria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263640" y="1737360"/>
            <a:ext cx="2697480" cy="3566160"/>
          </a:xfrm>
          <a:prstGeom prst="roundRect">
            <a:avLst>
              <a:gd name="adj" fmla="val 2712"/>
            </a:avLst>
          </a:prstGeom>
          <a:solidFill>
            <a:srgbClr val="12161F"/>
          </a:solidFill>
          <a:ln w="12700">
            <a:solidFill>
              <a:srgbClr val="232937"/>
            </a:solidFill>
            <a:prstDash val="solid"/>
          </a:ln>
        </p:spPr>
      </p:sp>
      <p:pic>
        <p:nvPicPr>
          <p:cNvPr id="15" name="Image 2" descr="icons/co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96596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6676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6492240" y="26060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with tests alongside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6492240" y="338328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analytics/scoring function written as a pure, independently-testable unit from the start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9144000" y="1737360"/>
            <a:ext cx="2697480" cy="3566160"/>
          </a:xfrm>
          <a:prstGeom prst="roundRect">
            <a:avLst>
              <a:gd name="adj" fmla="val 2712"/>
            </a:avLst>
          </a:prstGeom>
          <a:solidFill>
            <a:srgbClr val="12161F"/>
          </a:solidFill>
          <a:ln w="12700">
            <a:solidFill>
              <a:srgbClr val="232937"/>
            </a:solidFill>
            <a:prstDash val="solid"/>
          </a:ln>
        </p:spPr>
      </p:sp>
      <p:pic>
        <p:nvPicPr>
          <p:cNvPr id="20" name="Image 3" descr="icons/checkcir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2600" y="196596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12471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9372600" y="26060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before shipping</a:t>
            </a:r>
            <a:endParaRPr lang="en-US" sz="1450" dirty="0"/>
          </a:p>
        </p:txBody>
      </p:sp>
      <p:sp>
        <p:nvSpPr>
          <p:cNvPr id="23" name="Text 17"/>
          <p:cNvSpPr txBox="1"/>
          <p:nvPr/>
        </p:nvSpPr>
        <p:spPr>
          <a:xfrm>
            <a:off x="9372600" y="338328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 backend tests, plus every UI change checked live in a real browser against the real backend before being called done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1136599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WORKFLOW · PROMPT JOURNAL, ENTRIES 1 &amp; 9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4F6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most important course-correction: data access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691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11155680" cy="777240"/>
          </a:xfrm>
          <a:prstGeom prst="roundRect">
            <a:avLst>
              <a:gd name="adj" fmla="val 7059"/>
            </a:avLst>
          </a:prstGeom>
          <a:solidFill>
            <a:srgbClr val="12161F"/>
          </a:solidFill>
          <a:ln w="12700">
            <a:solidFill>
              <a:srgbClr val="23293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“Does ERCOT publish real CRR auction results publicly, and can you actually fetch them from here?”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063240"/>
            <a:ext cx="128016" cy="128016"/>
          </a:xfrm>
          <a:prstGeom prst="ellipse">
            <a:avLst/>
          </a:prstGeom>
          <a:solidFill>
            <a:srgbClr val="3DDC9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30175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 real &amp; public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977640" y="301752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ERCOT publishes NP7-802-M / NP7-803-M — Source, Sink, CRR type, clearing price, and CRR Account Holder — free on the MIS Public Area.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840480"/>
            <a:ext cx="128016" cy="128016"/>
          </a:xfrm>
          <a:prstGeom prst="ellipse">
            <a:avLst/>
          </a:prstGeom>
          <a:solidFill>
            <a:srgbClr val="E8B33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37947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pass: not scriptable here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379476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modern mis.ercot.com file browser is JS-driven and session-gated; a direct fetch returned an empty file list — no stable unauthenticated URL, so v1 shipped on a labeled synthetic generator instead.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4617720"/>
            <a:ext cx="128016" cy="128016"/>
          </a:xfrm>
          <a:prstGeom prst="ellipse">
            <a:avLst/>
          </a:prstGeom>
          <a:solidFill>
            <a:srgbClr val="3DDC9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5720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Re-checked later, found the real path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3977640" y="457200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follow-up session tested ERCOT's older, legacy MIS servlet directly with curl instead of trusting the earlier conclusion — reachable, unauthenticated, serving the real files.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5394960"/>
            <a:ext cx="128016" cy="128016"/>
          </a:xfrm>
          <a:prstGeom prst="ellipse">
            <a:avLst/>
          </a:prstGeom>
          <a:solidFill>
            <a:srgbClr val="3DDC9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68680" y="53492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the default: 1.1M real records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3977640" y="534924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months of real CRR Monthly Auction Results and the real 521-company Market Participants List, bundled in this repo — synthetic data is now the fallback, not the default.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136599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686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tested core, one real dataset, one console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828800"/>
            <a:ext cx="2468880" cy="2377440"/>
          </a:xfrm>
          <a:prstGeom prst="roundRect">
            <a:avLst>
              <a:gd name="adj" fmla="val 3077"/>
            </a:avLst>
          </a:prstGeom>
          <a:solidFill>
            <a:srgbClr val="12161F"/>
          </a:solidFill>
          <a:ln w="12700">
            <a:solidFill>
              <a:srgbClr val="232937"/>
            </a:solidFill>
            <a:prstDash val="solid"/>
          </a:ln>
        </p:spPr>
      </p:sp>
      <p:pic>
        <p:nvPicPr>
          <p:cNvPr id="5" name="Image 0" descr="icons/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5740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606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01752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1.1M real ERCOT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MIS auction records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(bundled) 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synthetic fallback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246120" y="1828800"/>
            <a:ext cx="2468880" cy="2377440"/>
          </a:xfrm>
          <a:prstGeom prst="roundRect">
            <a:avLst>
              <a:gd name="adj" fmla="val 3077"/>
            </a:avLst>
          </a:prstGeom>
          <a:solidFill>
            <a:srgbClr val="12161F"/>
          </a:solidFill>
          <a:ln w="12700">
            <a:solidFill>
              <a:srgbClr val="232937"/>
            </a:solidFill>
            <a:prstDash val="solid"/>
          </a:ln>
        </p:spPr>
      </p:sp>
      <p:pic>
        <p:nvPicPr>
          <p:cNvPr id="9" name="Image 1" descr="icons/lay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2057400"/>
            <a:ext cx="411480" cy="4114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474720" y="2606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core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3474720" y="301752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analytics.py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scoring.py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(pure functions,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I/O)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5989320" y="1828800"/>
            <a:ext cx="2468880" cy="2377440"/>
          </a:xfrm>
          <a:prstGeom prst="roundRect">
            <a:avLst>
              <a:gd name="adj" fmla="val 3077"/>
            </a:avLst>
          </a:prstGeom>
          <a:solidFill>
            <a:srgbClr val="12161F"/>
          </a:solidFill>
          <a:ln w="12700">
            <a:solidFill>
              <a:srgbClr val="232937"/>
            </a:solidFill>
            <a:prstDash val="solid"/>
          </a:ln>
        </p:spPr>
      </p:sp>
      <p:pic>
        <p:nvPicPr>
          <p:cNvPr id="13" name="Image 2" descr="icons/co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057400"/>
            <a:ext cx="411480" cy="4114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217920" y="2606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</a:t>
            </a:r>
            <a:endParaRPr lang="en-US" sz="1350" dirty="0"/>
          </a:p>
        </p:txBody>
      </p:sp>
      <p:sp>
        <p:nvSpPr>
          <p:cNvPr id="15" name="Text 10"/>
          <p:cNvSpPr txBox="1"/>
          <p:nvPr/>
        </p:nvSpPr>
        <p:spPr>
          <a:xfrm>
            <a:off x="6217920" y="301752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/api/dashboard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/api/pairs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/api/participants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/api/opportunity-scores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8732520" y="1828800"/>
            <a:ext cx="2468880" cy="2377440"/>
          </a:xfrm>
          <a:prstGeom prst="roundRect">
            <a:avLst>
              <a:gd name="adj" fmla="val 3077"/>
            </a:avLst>
          </a:prstGeom>
          <a:solidFill>
            <a:srgbClr val="12161F"/>
          </a:solidFill>
          <a:ln w="12700">
            <a:solidFill>
              <a:srgbClr val="232937"/>
            </a:solidFill>
            <a:prstDash val="solid"/>
          </a:ln>
        </p:spPr>
      </p:sp>
      <p:pic>
        <p:nvPicPr>
          <p:cNvPr id="17" name="Image 3" descr="icons/gitbranc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0" y="2057400"/>
            <a:ext cx="411480" cy="4114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61120" y="2606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console</a:t>
            </a:r>
            <a:endParaRPr lang="en-US" sz="1350" dirty="0"/>
          </a:p>
        </p:txBody>
      </p:sp>
      <p:sp>
        <p:nvSpPr>
          <p:cNvPr id="19" name="Text 13"/>
          <p:cNvSpPr txBox="1"/>
          <p:nvPr/>
        </p:nvSpPr>
        <p:spPr>
          <a:xfrm>
            <a:off x="8961120" y="301752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Overview · Explorer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Participants · Signals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Binding constraints</a:t>
            </a:r>
            <a:endParaRPr lang="en-US" sz="1000" dirty="0"/>
          </a:p>
        </p:txBody>
      </p:sp>
      <p:sp>
        <p:nvSpPr>
          <p:cNvPr id="20" name="Text 14"/>
          <p:cNvSpPr txBox="1"/>
          <p:nvPr/>
        </p:nvSpPr>
        <p:spPr>
          <a:xfrm>
            <a:off x="2926080" y="27432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Text 15"/>
          <p:cNvSpPr txBox="1"/>
          <p:nvPr/>
        </p:nvSpPr>
        <p:spPr>
          <a:xfrm>
            <a:off x="5669280" y="27432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8412480" y="27432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Shape 17"/>
          <p:cNvSpPr/>
          <p:nvPr/>
        </p:nvSpPr>
        <p:spPr>
          <a:xfrm>
            <a:off x="502920" y="4572000"/>
            <a:ext cx="10698480" cy="640080"/>
          </a:xfrm>
          <a:prstGeom prst="roundRect">
            <a:avLst>
              <a:gd name="adj" fmla="val 11429"/>
            </a:avLst>
          </a:prstGeom>
          <a:solidFill>
            <a:srgbClr val="1A1E12"/>
          </a:solidFill>
          <a:ln w="12700">
            <a:solidFill>
              <a:srgbClr val="3A3D1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45720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B3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 pytest tests exercise the analytics core AND the API layer. The React console never computes an average, a trend, or a score itself — it only renders what the tested core already produced.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1136599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6868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pages, one real dataset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61848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96596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Latest real auction month, MW awarded, top opportunity corridors, top participants by notional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37744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39572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Source/Sink Explorer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4320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any of the 30 tracked corridors (or compare up to 3 at once); Obligation vs. Option price history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15468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17296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Participants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2044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377 real CRR Account Holders; drill into any participant's recent certificate-level activity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9319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395020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 Signals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2976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corridor's Low/Medium/High score with its four factor sub-scores and plain-language explanation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70916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472744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Binding Constraints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0749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ERCOT transmission constraints right now — a separate, real-time clock from the settled auction data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SWITCH TO LIVE APPLICATION — return here only if the connection drops ]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136599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 FALLBACK · OPPORTUNITY SIGNALS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686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6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Top-scoring Source/Sink corridors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600200"/>
          <a:ext cx="11155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86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 from the app's own scoring.py output — not hand-picked for the deck.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1136599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 FALLBACK · PARTICIPANT ANALYSIS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686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6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 participants by total notional value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600200"/>
          <a:ext cx="11155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86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377 tracked participants and 1,120,889 auction records, 2025-10 – 2026-10.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1136599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PROOF, NOT JUST A DEMO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686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know it's actually correct</a:t>
            </a:r>
            <a:endParaRPr lang="en-US" sz="3000" dirty="0"/>
          </a:p>
        </p:txBody>
      </p:sp>
      <p:pic>
        <p:nvPicPr>
          <p:cNvPr id="4" name="Image 0" descr="icons/fla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365760" cy="365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97280" y="169164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136/136 backend tests pass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205740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Analytics, scoring, ingestion (including real ERCOT column parsing), live-API client, and every FastAPI endpoint — re-run after every change, not just once</a:t>
            </a:r>
            <a:endParaRPr lang="en-US" sz="1200" dirty="0"/>
          </a:p>
        </p:txBody>
      </p:sp>
      <p:pic>
        <p:nvPicPr>
          <p:cNvPr id="7" name="Image 1" descr="icons/targ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43200"/>
            <a:ext cx="365760" cy="3657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97280" y="26974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engine is behavior-tested, not just shape-tested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097280" y="306324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synthetic strong pair (high/rising/consistent/liquid) is asserted to outrank a synthetic weak pair — the score reacts to what it claims to</a:t>
            </a:r>
            <a:endParaRPr lang="en-US" sz="1200" dirty="0"/>
          </a:p>
        </p:txBody>
      </p:sp>
      <p:pic>
        <p:nvPicPr>
          <p:cNvPr id="10" name="Image 2" descr="icons/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749040"/>
            <a:ext cx="365760" cy="3657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0" y="370332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bug the tests alone wouldn't have caught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097280" y="406908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backend was quietly serving synthetic data through one code path while Streamlit showed real data through another — found by comparing the two live, not by re-reading either one</a:t>
            </a:r>
            <a:endParaRPr lang="en-US" sz="1200" dirty="0"/>
          </a:p>
        </p:txBody>
      </p:sp>
      <p:pic>
        <p:nvPicPr>
          <p:cNvPr id="13" name="Image 3" descr="icons/checkcir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754880"/>
            <a:ext cx="365760" cy="36576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97280" y="470916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UI change verified in a real running browser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097280" y="507492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backend + live frontend, clicked/hovered/typed through with real data on screen, not just component tests against mocks</a:t>
            </a:r>
            <a:endParaRPr lang="en-US" sz="1200" dirty="0"/>
          </a:p>
        </p:txBody>
      </p:sp>
      <p:sp>
        <p:nvSpPr>
          <p:cNvPr id="16" name="Text 10"/>
          <p:cNvSpPr txBox="1"/>
          <p:nvPr/>
        </p:nvSpPr>
        <p:spPr>
          <a:xfrm>
            <a:off x="1136599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REFLECTION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6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AI made easier — and what still needed judgment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ACCELERATED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11680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Scaffolding a full-stack app (API + tests + UI) in one sitting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42032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Writing comprehensive unit tests alongside — not after — the logic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072384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Producing a requirements doc with traceable acceptance criteria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602736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Rebuilding the whole frontend around a new design system in one review cycle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17220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B33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JUDGMENT CALLS THAT STILL NEEDED A HUMAN FRAME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172200" y="201168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Verifying real-world data access before designing around it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2542032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Deciding scoring should be explainable rules, not a black box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172200" y="3072384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Being explicit — in the UI itself — about synthetic vs. real data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172200" y="3602736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Scrapping a working map feature once it stopped serving the trader, rather than polishing it further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206240"/>
            <a:ext cx="11109960" cy="0"/>
          </a:xfrm>
          <a:prstGeom prst="line">
            <a:avLst/>
          </a:prstGeom>
          <a:noFill/>
          <a:ln w="12700">
            <a:solidFill>
              <a:srgbClr val="23293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343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 write-up: docs/lessons_learned_and_future_work.md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1136599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WHAT'S NEXT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6868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Future enhancements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12161F"/>
          </a:solidFill>
          <a:ln w="12700">
            <a:solidFill>
              <a:srgbClr val="232937"/>
            </a:solidFill>
            <a:prstDash val="solid"/>
          </a:ln>
        </p:spPr>
      </p:sp>
      <p:pic>
        <p:nvPicPr>
          <p:cNvPr id="5" name="Image 0" descr="icons/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6596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4688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Auto-refreshing data cache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90779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caches the real dataset for process lifetime; a new auction month needs a restart to appear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297680" y="173736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12161F"/>
          </a:solidFill>
          <a:ln w="12700">
            <a:solidFill>
              <a:srgbClr val="232937"/>
            </a:solidFill>
            <a:prstDash val="solid"/>
          </a:ln>
        </p:spPr>
      </p:sp>
      <p:pic>
        <p:nvPicPr>
          <p:cNvPr id="9" name="Image 1" descr="icons/trend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96596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26280" y="24688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Cross-validate against DAM/RTM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26280" y="290779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realized congestion to auction-cleared CRR value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173736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12161F"/>
          </a:solidFill>
          <a:ln w="12700">
            <a:solidFill>
              <a:srgbClr val="232937"/>
            </a:solidFill>
            <a:prstDash val="solid"/>
          </a:ln>
        </p:spPr>
      </p:sp>
      <p:pic>
        <p:nvPicPr>
          <p:cNvPr id="13" name="Image 2" descr="icons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965960"/>
            <a:ext cx="365760" cy="3657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21040" y="24688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bands on the score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8321040" y="290779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Surface sample-size uncertainty, not just a single number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02920" y="370332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12161F"/>
          </a:solidFill>
          <a:ln w="12700">
            <a:solidFill>
              <a:srgbClr val="232937"/>
            </a:solidFill>
            <a:prstDash val="solid"/>
          </a:ln>
        </p:spPr>
      </p:sp>
      <p:pic>
        <p:nvPicPr>
          <p:cNvPr id="17" name="Image 3" descr="icons/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931920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31520" y="44348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view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731520" y="487375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a user's own CRR holdings, not just the tracked universe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4297680" y="370332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12161F"/>
          </a:solidFill>
          <a:ln w="12700">
            <a:solidFill>
              <a:srgbClr val="232937"/>
            </a:solidFill>
            <a:prstDash val="solid"/>
          </a:ln>
        </p:spPr>
      </p:sp>
      <p:pic>
        <p:nvPicPr>
          <p:cNvPr id="21" name="Image 4" descr="icons/gitbranc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6280" y="3931920"/>
            <a:ext cx="365760" cy="36576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526280" y="44348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 constraints to corridors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4526280" y="487375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Binding Constraints is a real, live, searchable list today; connecting a constraint to the specific tracked pair it affects is the next step</a:t>
            </a:r>
            <a:endParaRPr lang="en-US" sz="1050" dirty="0"/>
          </a:p>
        </p:txBody>
      </p:sp>
      <p:sp>
        <p:nvSpPr>
          <p:cNvPr id="24" name="Shape 17"/>
          <p:cNvSpPr/>
          <p:nvPr/>
        </p:nvSpPr>
        <p:spPr>
          <a:xfrm>
            <a:off x="8092440" y="370332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12161F"/>
          </a:solidFill>
          <a:ln w="12700">
            <a:solidFill>
              <a:srgbClr val="232937"/>
            </a:solidFill>
            <a:prstDash val="solid"/>
          </a:ln>
        </p:spPr>
      </p:sp>
      <p:pic>
        <p:nvPicPr>
          <p:cNvPr id="25" name="Image 5" descr="icons/lightbul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1040" y="3931920"/>
            <a:ext cx="365760" cy="36576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8321040" y="44348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Regime-change alerting</a:t>
            </a:r>
            <a:endParaRPr lang="en-US" sz="1300" dirty="0"/>
          </a:p>
        </p:txBody>
      </p:sp>
      <p:sp>
        <p:nvSpPr>
          <p:cNvPr id="27" name="Text 19"/>
          <p:cNvSpPr txBox="1"/>
          <p:nvPr/>
        </p:nvSpPr>
        <p:spPr>
          <a:xfrm>
            <a:off x="8321040" y="487375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Notify when a pair crosses a tier boundary</a:t>
            </a:r>
            <a:endParaRPr lang="en-US" sz="1050" dirty="0"/>
          </a:p>
        </p:txBody>
      </p:sp>
      <p:sp>
        <p:nvSpPr>
          <p:cNvPr id="28" name="Text 20"/>
          <p:cNvSpPr txBox="1"/>
          <p:nvPr/>
        </p:nvSpPr>
        <p:spPr>
          <a:xfrm>
            <a:off x="1136599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cons/z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21945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4F6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30175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DDC9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discussion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548640" y="4114800"/>
            <a:ext cx="2926080" cy="0"/>
          </a:xfrm>
          <a:prstGeom prst="line">
            <a:avLst/>
          </a:prstGeom>
          <a:noFill/>
          <a:ln w="12700">
            <a:solidFill>
              <a:srgbClr val="2329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297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Repository: ercot-crr-analytics/  ·  136/136 tests passing  ·  README.md has full setup instructions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1136599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2026-09-21T08:37:19Z</dcterms:created>
  <dcterms:modified xsi:type="dcterms:W3CDTF">2026-09-21T08:37:19Z</dcterms:modified>
</cp:coreProperties>
</file>
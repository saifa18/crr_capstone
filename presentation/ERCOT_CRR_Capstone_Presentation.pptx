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Opportunity score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4F6F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PERMIAN_SOLAR_RN → HB_WEST</c:v>
                  </c:pt>
                  <c:pt idx="1">
                    <c:v>HB_WEST → HB_HOUSTON</c:v>
                  </c:pt>
                  <c:pt idx="2">
                    <c:v>HB_NORTH → LZ_HOUSTON</c:v>
                  </c:pt>
                  <c:pt idx="3">
                    <c:v>HB_PAN → HB_HOUSTON</c:v>
                  </c:pt>
                  <c:pt idx="4">
                    <c:v>LZ_WEST → LZ_HOUSTON</c:v>
                  </c:pt>
                  <c:pt idx="5">
                    <c:v>PANHANDLE_WIND_RN → HB_NORTH</c:v>
                  </c:pt>
                  <c:pt idx="6">
                    <c:v>HB_WEST → HB_NORTH</c:v>
                  </c:pt>
                  <c:pt idx="7">
                    <c:v>COASTAL_BEND_WIND_RN → HB_HOUSTON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90.4</c:v>
                </c:pt>
                <c:pt idx="1">
                  <c:v>81.7</c:v>
                </c:pt>
                <c:pt idx="2">
                  <c:v>78.3</c:v>
                </c:pt>
                <c:pt idx="3">
                  <c:v>76.2</c:v>
                </c:pt>
                <c:pt idx="4">
                  <c:v>75.7</c:v>
                </c:pt>
                <c:pt idx="5">
                  <c:v>68.7</c:v>
                </c:pt>
                <c:pt idx="6">
                  <c:v>68.6</c:v>
                </c:pt>
                <c:pt idx="7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4F6F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23293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61F"/>
        </a:solidFill>
        <a:ln>
          <a:noFill/>
        </a:ln>
        <a:effectLst/>
      </c:spPr>
    </c:plotArea>
    <c:plotVisOnly val="1"/>
    <c:dispBlanksAs val="span"/>
  </c:chart>
  <c:spPr>
    <a:solidFill>
      <a:srgbClr val="0A0D13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notional ($)</c:v>
                </c:pt>
              </c:strCache>
            </c:strRef>
          </c:tx>
          <c:spPr>
            <a:solidFill>
              <a:srgbClr val="2E7CE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4F6F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Cactus Energy Solutions</c:v>
                  </c:pt>
                  <c:pt idx="1">
                    <c:v>Republic Grid Analytics LLC</c:v>
                  </c:pt>
                  <c:pt idx="2">
                    <c:v>Permian Basin Energy Partners</c:v>
                  </c:pt>
                  <c:pt idx="3">
                    <c:v>Coastal Bend Capital Markets</c:v>
                  </c:pt>
                  <c:pt idx="4">
                    <c:v>Alamo Energy Trading</c:v>
                  </c:pt>
                  <c:pt idx="5">
                    <c:v>Longhorn Transmission Traders</c:v>
                  </c:pt>
                  <c:pt idx="6">
                    <c:v>Piney Woods Power Trading</c:v>
                  </c:pt>
                  <c:pt idx="7">
                    <c:v>Hill Country Hedge Partners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75669</c:v>
                </c:pt>
                <c:pt idx="1">
                  <c:v>72353</c:v>
                </c:pt>
                <c:pt idx="2">
                  <c:v>71060</c:v>
                </c:pt>
                <c:pt idx="3">
                  <c:v>70169</c:v>
                </c:pt>
                <c:pt idx="4">
                  <c:v>69574</c:v>
                </c:pt>
                <c:pt idx="5">
                  <c:v>69232</c:v>
                </c:pt>
                <c:pt idx="6">
                  <c:v>68186</c:v>
                </c:pt>
                <c:pt idx="7">
                  <c:v>66747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50" u="none">
                  <a:solidFill>
                    <a:srgbClr val="F4F6F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232937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61F"/>
        </a:solidFill>
        <a:ln>
          <a:noFill/>
        </a:ln>
        <a:effectLst/>
      </c:spPr>
    </c:plotArea>
    <c:plotVisOnly val="1"/>
    <c:dispBlanksAs val="span"/>
  </c:chart>
  <c:spPr>
    <a:solidFill>
      <a:srgbClr val="0A0D1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0:00-2:00 — Welcome. Frame the session: this is a capstone about using AI across the whole software lifecycle to build real market-intelligence tooling for ERCOT CRRs, not just to write code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2:00-3:00 — Walk the five sections and the rough timing so the room knows the shape of the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3:00-6:00 — Explain LMP and congestion conceptually before naming CRRs. The West-&gt;Houston example is the real dominant ERCOT congestion story (renewables in the west/panhandle needing to reach coastal/urban load) and is the same pair the app scores highest later — tie it back then.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6:00-9:00 — Keep this brief; the goal is just enough vocabulary for the demo to make sense, not a full CRR certification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9:00-11:00 — This is the scope we'll hold ourselves to in the demo section; call back to each bullet as you click through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11:00-14:00 — This is the spine of the AI-workflow section; each card gets its own detail slide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14:00-17:00 — This is the single most important story in the AI-workflow section: verifying the constraint before designing around it, and being transparent about it in the product itself (banner in the UI, disclosure in the requirements doc), rather than quietly faking realism.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34:00-37:00 (post-demo) — Emphasize the pure-function core: it's the reason the demo you just saw and the numbers in the tests are guaranteed to agree.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17:00-37:00 — This slide is the live-demo cue card. Actually tab through the running application here for ~20 minutes; the next four slides are a fallback in case of technical issues.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Fallback only. Note that PERMIAN_SOLAR_RN -&gt; HB_WEST and HB_WEST -&gt; HB_HOUSTON top the list — consistent with the real west/panhandle-to-load congestion story from slide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Fallback only. Participant names are illustrative/synthetic, consistent with the data-sourcing disclosure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37:00-45:00 — Show the terminal output of `python -m pytest -q` live if possible: `30 passed`.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45:00-53:00 — Be candid here; this is the reflective core of a capstone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53:00-56:00 — Move briskly; full detail lives in the lessons-learned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56:00-60:00 — Open floor. Likely questions: how the synthetic data was calibrated, why rule-based scoring over ML, and what real MIS access would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D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ERCOT CRR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DDC9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Analytics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03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AI-built prototype for Congestion Revenue Rights market intelligence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548640" y="4343400"/>
            <a:ext cx="292608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526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Saif  ·  ETRM Implementation Consultant, Veritas (an Oliver Wyman business)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46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Capstone  ·  Built end-to-end with Claude (requirements → design → code → tests)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Sixty minutes, five parts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01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power markets &amp; CRRs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1671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LMP, congestion, Source/Sink, Option vs. Obligation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1920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974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workflow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815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Requirements, prompt journal, and validation as we went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min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11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6301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application demo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9959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→ Explorer → Participants → Opportunity Signals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96696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min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262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5445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&amp; testing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9103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real, what's synthetic, and how it's proven correct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406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 &amp; what's next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82472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made easier, what still needed judgment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966960" y="5577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min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ERCOT FUNDAMENTALS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location matters in ERCOT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is a nodal market: the price of energy differs by location (Locational Marginal Price) whenever transmission is constrained. Generation in windy West Texas often can't fully reach load in Houston — that gap in price between two points is congestion.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0632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Congestion Revenue Right (CRR) is a financial instrument that pays the holder the difference in LMP between a Source and a Sink. ERCOT auctions them monthly and annually so market participants can hedge — or take a view on — that locational spread.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75120" y="173736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6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HB_WEST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601200" y="173736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6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HB_HOUSTON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0" y="2240280"/>
            <a:ext cx="914400" cy="0"/>
          </a:xfrm>
          <a:prstGeom prst="line">
            <a:avLst/>
          </a:prstGeom>
          <a:noFill/>
          <a:ln w="31750">
            <a:solidFill>
              <a:srgbClr val="3DDC97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675120" y="2834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congestion value ($/MWh)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2461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CRR holder on this path is paid (or pays) that spread every settlement — that's the value this app measures historically.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Reference: ERCOT Locational Marginal Pricing WBT · Wholesale Markets 101 · Congestion Revenue Rights WBT (ercot.com/services/training)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ERCOT FUNDAMENTALS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CRR types, one underlying question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OBLIGATION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(or charges) the full LMP spread every hour — symmetric exposure. If the path decongests or reverses, an Obligation holder can owe money.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475488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6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as this app's primary economic-value signal (Sections 05-06) because it mirrors realized congestion directly.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C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3774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the LMP spread only when it's positive to the holder — the holder never owes money on the CRR itself, but pays more upfront for that protection.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3977640"/>
            <a:ext cx="475488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41148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6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in this app as a smaller, always-non-negative clearing price relative to the same path's Obligation value.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5074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Source/Sink explorer in this app tracks both types side-by-side for every pair, on the same chart.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CAPSTONE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project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3291F"/>
          </a:solidFill>
          <a:ln w="12700">
            <a:solidFill>
              <a:srgbClr val="1F4A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and analytics — not a predictive model, not a trading system.</a:t>
            </a:r>
            <a:endParaRPr lang="en-US" sz="1500" dirty="0"/>
          </a:p>
        </p:txBody>
      </p:sp>
      <p:pic>
        <p:nvPicPr>
          <p:cNvPr id="6" name="Image 0" descr="icons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34640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281635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816352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auctions, active participants, top Source/Sink pairs</a:t>
            </a:r>
            <a:endParaRPr lang="en-US" sz="1250" dirty="0"/>
          </a:p>
        </p:txBody>
      </p:sp>
      <p:pic>
        <p:nvPicPr>
          <p:cNvPr id="9" name="Image 1" descr="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564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343814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 analysis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434840" y="3438144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MW, notional, and pairs traded per participant</a:t>
            </a:r>
            <a:endParaRPr lang="en-US" sz="1250" dirty="0"/>
          </a:p>
        </p:txBody>
      </p:sp>
      <p:pic>
        <p:nvPicPr>
          <p:cNvPr id="12" name="Image 2" descr="icons/gitbra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78224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405993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Source/Sink explorer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4434840" y="4059936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pricing &amp; congestion trends, Obligation + Option</a:t>
            </a:r>
            <a:endParaRPr lang="en-US" sz="1250" dirty="0"/>
          </a:p>
        </p:txBody>
      </p:sp>
      <p:pic>
        <p:nvPicPr>
          <p:cNvPr id="15" name="Image 3" descr="icons/tren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000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97280" y="46817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analytics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4434840" y="4681728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Average, min/max, volatility, and trend</a:t>
            </a:r>
            <a:endParaRPr lang="en-US" sz="1250" dirty="0"/>
          </a:p>
        </p:txBody>
      </p:sp>
      <p:pic>
        <p:nvPicPr>
          <p:cNvPr id="18" name="Image 4" descr="icons/targ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321808"/>
            <a:ext cx="384048" cy="38404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0" y="5303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score</a:t>
            </a:r>
            <a:endParaRPr lang="en-US" sz="1450" dirty="0"/>
          </a:p>
        </p:txBody>
      </p:sp>
      <p:sp>
        <p:nvSpPr>
          <p:cNvPr id="20" name="Text 13"/>
          <p:cNvSpPr txBox="1"/>
          <p:nvPr/>
        </p:nvSpPr>
        <p:spPr>
          <a:xfrm>
            <a:off x="4434840" y="5303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Low / Medium / High signal for further investigation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WORKFLOW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across the whole lifecycle, not just the code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5" name="Image 0" descr="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06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060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before designing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what ERCOT actually publishes (and what's programmatically reachable) before writing any code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0" name="Image 1" descr="icon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9659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611880" y="26060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requirements with AI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Turned the capstone brief into a full functional/non-functional requirements doc with traceable acceptance criteria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6364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5" name="Image 2" descr="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96596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26060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tests alongside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analytics/scoring function written as a pure, independently-testable unit from the start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144000" y="17373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20" name="Image 3" descr="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0" y="196596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2471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372600" y="26060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before shipping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372600" y="338328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backend tests + a real Babel syntax check + a react-test-renderer smoke test on the UI, before this deck existed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WORKFLOW · PROMPT JOURNAL, ENTRY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important course-correction: data access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155680" cy="777240"/>
          </a:xfrm>
          <a:prstGeom prst="roundRect">
            <a:avLst>
              <a:gd name="adj" fmla="val 7059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“Does ERCOT publish real CRR auction results publicly, and can you actually fetch them from here?”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128016" cy="128016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3063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real &amp; public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30632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ERCOT publishes NP7-802-M / NP7-803-M — Source, Sink, CRR type, clearing price, and CRR Account Holder — free on the MIS Public Area.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28016" cy="128016"/>
          </a:xfrm>
          <a:prstGeom prst="ellipse">
            <a:avLst/>
          </a:prstGeom>
          <a:solidFill>
            <a:srgbClr val="E8B33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931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not scriptable here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39319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download center is a JS-driven, session-gated file browser; a direct fetch returned an empty file list — no stable unauthenticated URL.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128016" cy="128016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800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changed as a result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48006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 clearly-labeled synthetic generator (real hub names, realistic seasonality) + an ingestion layer written against ERCOT's real column layout, so real CSVs drop in with zero code changes.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tested core, two ways to see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468880" cy="2377440"/>
          </a:xfrm>
          <a:prstGeom prst="roundRect">
            <a:avLst>
              <a:gd name="adj" fmla="val 3077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5" name="Image 0" descr="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ERCOT MIS CSVs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(if present) 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seeded synthetic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46120" y="1828800"/>
            <a:ext cx="2468880" cy="2377440"/>
          </a:xfrm>
          <a:prstGeom prst="roundRect">
            <a:avLst>
              <a:gd name="adj" fmla="val 3077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9" name="Image 1" descr="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0574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747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core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347472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scoring.py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(pure functions,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I/O)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989320" y="1828800"/>
            <a:ext cx="2468880" cy="2377440"/>
          </a:xfrm>
          <a:prstGeom prst="roundRect">
            <a:avLst>
              <a:gd name="adj" fmla="val 3077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3" name="Image 2" descr="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574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179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621792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/api/dashboard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/api/pairs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/api/participants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/api/opportunity-scores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8732520" y="1828800"/>
            <a:ext cx="2468880" cy="2377440"/>
          </a:xfrm>
          <a:prstGeom prst="roundRect">
            <a:avLst>
              <a:gd name="adj" fmla="val 3077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7" name="Image 3" descr="icons/gitbran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20574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112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8961120" y="30175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 · Explorer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Signals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2926080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5"/>
          <p:cNvSpPr txBox="1"/>
          <p:nvPr/>
        </p:nvSpPr>
        <p:spPr>
          <a:xfrm>
            <a:off x="5669280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8412480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502920" y="45720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1A1E12"/>
          </a:solidFill>
          <a:ln w="12700">
            <a:solidFill>
              <a:srgbClr val="3A3D1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45720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B3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pytest tests exercise the analytics core AND the API layer. The React UI never computes an average, a trend, or a score itself — it only renders what the tested core already produced.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tabs, one dataset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7556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1488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auction month, MW awarded, top opportunity corridors, top participants by notional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7614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Source/Sink Explorer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154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any of the 15 tracked pairs; see Obligation vs. Option price history and the six analytics metrics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160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by notional or MW; drill into any participant's trailing-36-month activity and pair footprint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7731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Signals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51663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pair's Low/Medium/High score with its four factor sub-scores and plain-language explanation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SWITCH TO LIVE APPLICATION — return here only if the connection drops ]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FALLBACK · OPPORTUNITY SIGNALS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Top-scoring Source/Sink corridors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11155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6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from the app's own scoring.py output — not hand-picked for the deck.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FALLBACK · PARTICIPANT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participants by total notional value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600200"/>
          <a:ext cx="11155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6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15 tracked participants and 8,190 auction records, 2019-01 – 2026-07.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PROOF, NOT JUST A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know it's actually correct</a:t>
            </a:r>
            <a:endParaRPr lang="en-US" sz="3000" dirty="0"/>
          </a:p>
        </p:txBody>
      </p:sp>
      <p:pic>
        <p:nvPicPr>
          <p:cNvPr id="4" name="Image 0" descr="icons/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6916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30/30 backend tests pass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205740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generator determinism, all four analytics functions, the scoring engine's ranking behavior, and every API endpoint</a:t>
            </a:r>
            <a:endParaRPr lang="en-US" sz="1200" dirty="0"/>
          </a:p>
        </p:txBody>
      </p:sp>
      <p:pic>
        <p:nvPicPr>
          <p:cNvPr id="7" name="Image 1" descr="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697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engine is behavior-tested, not just shape-tested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97280" y="306324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synthetic strong pair (high/rising/consistent/liquid) is asserted to outrank a synthetic weak pair — the score reacts to what it claims to</a:t>
            </a:r>
            <a:endParaRPr lang="en-US" sz="1200" dirty="0"/>
          </a:p>
        </p:txBody>
      </p:sp>
      <p:pic>
        <p:nvPicPr>
          <p:cNvPr id="10" name="Image 2" descr="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4904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37033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syntax-checked with a real Babel parse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97280" y="4069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Caught before ever being shown, not discovered live</a:t>
            </a:r>
            <a:endParaRPr lang="en-US" sz="1200" dirty="0"/>
          </a:p>
        </p:txBody>
      </p:sp>
      <p:pic>
        <p:nvPicPr>
          <p:cNvPr id="13" name="Image 3" descr="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47091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smoke-tested with react-test-renderer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50749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 tabs rendered; pair selection, participant selection, and cross-tab navigation all exercised programmatically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AI made easier — and what still needed judgment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ACCELERATED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Scaffolding a full-stack app (API + tests + UI) in one sitting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Writing comprehensive unit tests alongside — not after — the logic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Producing a requirements doc with traceable acceptance criteria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B3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JUDGMENT CALLS THAT STILL NEEDED A HUMAN FRAME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Verifying real-world data access before designing around it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2743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Deciding scoring should be explainable rules, not a black box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3383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Being explicit — in the UI itself — about synthetic vs. real data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110996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43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write-up: docs/lessons_learned_and_future_work.md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enhancements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5" name="Image 0" descr="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ERCOT MIS ingestion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07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authenticated retrieval of NP7-802-M/803-M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173736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9" name="Image 1" descr="icons/tre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9659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2628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Cross-validate against DAM/RTM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907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realized congestion to auction-cleared CRR value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173736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3" name="Image 2" descr="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96596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2104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bands on the score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8321040" y="2907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sample-size uncertainty, not just a single number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2920" y="370332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17" name="Image 3" descr="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3192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1520" y="4434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view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a user's own CRR holdings, not just the tracked universe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297680" y="370332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21" name="Image 4" descr="icons/gitbran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393192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526280" y="4434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Time-of-use drill-down in the UI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4526280" y="48737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already supports it; expose the filter controls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8092440" y="370332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2161F"/>
          </a:solidFill>
          <a:ln w="12700">
            <a:solidFill>
              <a:srgbClr val="232937"/>
            </a:solidFill>
            <a:prstDash val="solid"/>
          </a:ln>
        </p:spPr>
      </p:sp>
      <p:pic>
        <p:nvPicPr>
          <p:cNvPr id="25" name="Image 5" descr="icons/light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3931920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321040" y="4434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Regime-change alerting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8321040" y="48737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5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 when a pair crosses a tier boundary</a:t>
            </a:r>
            <a:endParaRPr lang="en-US" sz="1050" dirty="0"/>
          </a:p>
        </p:txBody>
      </p:sp>
      <p:sp>
        <p:nvSpPr>
          <p:cNvPr id="28" name="Text 20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1945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6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30175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DC9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discussion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4114800"/>
            <a:ext cx="2926080" cy="0"/>
          </a:xfrm>
          <a:prstGeom prst="line">
            <a:avLst/>
          </a:prstGeom>
          <a:noFill/>
          <a:ln w="12700">
            <a:solidFill>
              <a:srgbClr val="2329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Repository: ercot-crr-analytics/  ·  30/30 tests passing  ·  README.md has full setup instructions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36599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2026-08-27T04:14:46Z</dcterms:created>
  <dcterms:modified xsi:type="dcterms:W3CDTF">2026-08-27T04:14:46Z</dcterms:modified>
</cp:coreProperties>
</file>
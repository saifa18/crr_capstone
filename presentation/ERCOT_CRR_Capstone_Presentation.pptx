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Opportunity score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6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AEEC → LZ_WEST</c:v>
                  </c:pt>
                  <c:pt idx="1">
                    <c:v>PENA_ALL → LZ_CPS</c:v>
                  </c:pt>
                  <c:pt idx="2">
                    <c:v>HB_WEST → LZ_WEST</c:v>
                  </c:pt>
                  <c:pt idx="3">
                    <c:v>HB_NORTH → LZ_NORTH</c:v>
                  </c:pt>
                  <c:pt idx="4">
                    <c:v>MERCURY_ALL → HB_NORTH</c:v>
                  </c:pt>
                  <c:pt idx="5">
                    <c:v>STP_STP_G1 → LZ_CPS</c:v>
                  </c:pt>
                  <c:pt idx="6">
                    <c:v>OUTP_SLR_RN → SAN_SANMIGG1</c:v>
                  </c:pt>
                  <c:pt idx="7">
                    <c:v>STP_STP_G2 → LZ_CPS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71.3</c:v>
                </c:pt>
                <c:pt idx="1">
                  <c:v>70.5</c:v>
                </c:pt>
                <c:pt idx="2">
                  <c:v>65.2</c:v>
                </c:pt>
                <c:pt idx="3">
                  <c:v>56.1</c:v>
                </c:pt>
                <c:pt idx="4">
                  <c:v>55.6</c:v>
                </c:pt>
                <c:pt idx="5">
                  <c:v>55.1</c:v>
                </c:pt>
                <c:pt idx="6">
                  <c:v>55</c:v>
                </c:pt>
                <c:pt idx="7">
                  <c:v>54.2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F6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4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23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F"/>
        </a:solidFill>
        <a:ln>
          <a:noFill/>
        </a:ln>
        <a:effectLst/>
      </c:spPr>
    </c:plotArea>
    <c:plotVisOnly val="1"/>
    <c:dispBlanksAs val="span"/>
  </c:chart>
  <c:spPr>
    <a:solidFill>
      <a:srgbClr val="0A0D1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notional ($)</c:v>
                </c:pt>
              </c:strCache>
            </c:strRef>
          </c:tx>
          <c:spPr>
            <a:solidFill>
              <a:srgbClr val="2E7CE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4F6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LUMINANT ENERGY COMPANY LLC REPS (CRRAH)</c:v>
                  </c:pt>
                  <c:pt idx="1">
                    <c:v>CPS ENERGY (CRRAH)</c:v>
                  </c:pt>
                  <c:pt idx="2">
                    <c:v>NRG TEXAS POWER LLC (LOAD) (CRRAH)</c:v>
                  </c:pt>
                  <c:pt idx="3">
                    <c:v>MERCURIA ENERGY AMERICA LLC 1 (CRRAH)</c:v>
                  </c:pt>
                  <c:pt idx="4">
                    <c:v>NRG BUSINESS MARKETING LLC (CRRAH)</c:v>
                  </c:pt>
                  <c:pt idx="5">
                    <c:v>GOLDEN SPREAD ELECTRIC COOPERATIVE INC (CRRAH)</c:v>
                  </c:pt>
                  <c:pt idx="6">
                    <c:v>CPS ENERGY 2 (CRRAH)</c:v>
                  </c:pt>
                  <c:pt idx="7">
                    <c:v>JUST ENERGY LIMITED (CRRAH)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156172</c:v>
                </c:pt>
                <c:pt idx="1">
                  <c:v>123268</c:v>
                </c:pt>
                <c:pt idx="2">
                  <c:v>116175</c:v>
                </c:pt>
                <c:pt idx="3">
                  <c:v>47864</c:v>
                </c:pt>
                <c:pt idx="4">
                  <c:v>38294</c:v>
                </c:pt>
                <c:pt idx="5">
                  <c:v>35546</c:v>
                </c:pt>
                <c:pt idx="6">
                  <c:v>31430</c:v>
                </c:pt>
                <c:pt idx="7">
                  <c:v>19238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F4F6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232937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F"/>
        </a:solidFill>
        <a:ln>
          <a:noFill/>
        </a:ln>
        <a:effectLst/>
      </c:spPr>
    </c:plotArea>
    <c:plotVisOnly val="1"/>
    <c:dispBlanksAs val="span"/>
  </c:chart>
  <c:spPr>
    <a:solidFill>
      <a:srgbClr val="0A0D1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0:00-2:00 — Welcome. Frame the session: this is a capstone about using AI across the whole software lifecycle to build real market-intelligence tooling for ERCOT CRRs, not just to write code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2:00-3:00 — Walk the five sections and the rough timing so the room knows the shape of the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3:00-6:00 — Explain LMP and congestion conceptually before naming CRRs. The West-&gt;Houston example is the real dominant ERCOT congestion story (renewables in the west/panhandle needing to reach coastal/urban load) and is the same pair the app scores highest later — tie it back 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6:00-9:00 — Keep this brief; the goal is just enough vocabulary for the demo to make sense, not a full CRR certification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9:00-11:00 — This is the scope we'll hold ourselves to in the demo section; call back to each bullet as you click through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11:00-14:00 — This is the spine of the AI-workflow section; each card gets its own detail slide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14:00-17:00 — This is the single most important story in the whole build, and it has two acts, not one: the honest 'can't reach it' finding in entry 1, AND the willingness in entry 9 to re-test that same assumption later instead of treating it as settled — which is what actually unlocked the real data. Both halves matter for the grade: verify before designing, and don't let an earlier honest answer calcify into an unquestioned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34:00-37:00 (post-demo) — Emphasize the pure-function core: it's the reason the demo you just saw and the numbers in the tests are guaranteed to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17:00-37:00 — This slide is the live-demo cue card. Actually tab through the running application here for ~20 minutes; the next four slides are a fallback in case of technical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 only. This chart is generated from real, settled ERCOT auction data (regenerate via `python scripts/export_snapshot.py` after any data refresh) — whatever tops this list is genuinely today's highest-scoring tracked corridor, not a fixed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 only. These are real CRR Account Holder names from ERCOT's own Market Participants List (NP12-215-ER) — not the fictional placeholders used only when no real data is present, see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37:00-45:00 — Show the terminal output of `python -m pytest -q` live if possible: `30 passed`.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45:00-53:00 — Be candid here; this is the reflective core of a capstone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53:00-56:00 — Move briskly; full detail lives in the lessons-learned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56:00-60:00 — Open floor. Likely questions: how the synthetic data was calibrated, why rule-based scoring over ML, and what real MIS access would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ERCOT CRR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DC9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Analytics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AI-built prototype for Congestion Revenue Rights market intelligence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2926080" cy="0"/>
          </a:xfrm>
          <a:prstGeom prst="line">
            <a:avLst/>
          </a:prstGeom>
          <a:noFill/>
          <a:ln w="12700">
            <a:solidFill>
              <a:srgbClr val="2329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Saif  ·  ETRM Implementation Consultant, Veritas (an Oliver Wyman business)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Capstone  ·  Built end-to-end with Claude (requirements → design → code → tests)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 minutes, five parts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013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ERCOT power markets &amp; CRRs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671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LMP, congestion, Source/Sink, Option vs. Obligation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96696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workflow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0815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prompt journal, and validation as we went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9669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118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301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 demo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959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→ Explorer → Participants → Path Settlements → Binding Constraints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96696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5445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testing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9103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real, what's synthetic, and how it's proven correct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4068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458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&amp; what's next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8247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made easier, what still needed judgment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966960" y="5577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min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ERCOT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location matters in ERCOT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ERCOT is a nodal market: the price of energy differs by location (Locational Marginal Price) whenever transmission is constrained. Generation in windy West Texas often can't fully reach load in Houston — that gap in price between two points is congestion.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632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Congestion Revenue Right (CRR) is a financial instrument that pays the holder the difference in LMP between a Source and a Sink. ERCOT auctions them monthly and annually so market participants can hedge — or take a view on — that locational spread.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73736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HB_WEST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0" y="173736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HB_HOUSTON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0" y="2240280"/>
            <a:ext cx="914400" cy="0"/>
          </a:xfrm>
          <a:prstGeom prst="line">
            <a:avLst/>
          </a:prstGeom>
          <a:noFill/>
          <a:ln w="3175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67512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congestion value ($/MWh)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246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CRR holder on this path is paid (or pays) that spread every settlement — that's the value this app measures historically.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Reference: ERCOT Locational Marginal Pricing WBT · Wholesale Markets 101 · Congestion Revenue Rights WBT (ercot.com/services/training)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ERCOT FUNDAMENTALS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CRR types, one underlying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OBLIGATION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(or charges) the full LMP spread every hour — symmetric exposure. If the path decongests or reverses, an Obligation holder can owe money.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4754880" cy="0"/>
          </a:xfrm>
          <a:prstGeom prst="line">
            <a:avLst/>
          </a:prstGeom>
          <a:noFill/>
          <a:ln w="12700">
            <a:solidFill>
              <a:srgbClr val="2329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this app's primary economic-value signal (Sections 05-06) because it mirrors realized congestion directly.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C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77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the LMP spread only when it's positive to the holder — the holder never owes money on the CRR itself, but pays more upfront for that protection.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3977640"/>
            <a:ext cx="4754880" cy="0"/>
          </a:xfrm>
          <a:prstGeom prst="line">
            <a:avLst/>
          </a:prstGeom>
          <a:noFill/>
          <a:ln w="12700">
            <a:solidFill>
              <a:srgbClr val="2329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4114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in this app as a smaller, always-non-negative clearing price relative to the same path's Obligation value.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Source/Sink explorer in this app tracks both types side-by-side for every pair, on the same chart.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CAPSTONE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3291F"/>
          </a:solidFill>
          <a:ln w="12700">
            <a:solidFill>
              <a:srgbClr val="1F4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and analytics — not a predictive model, not a trading system.</a:t>
            </a:r>
            <a:endParaRPr lang="en-US" sz="1500" dirty="0"/>
          </a:p>
        </p:txBody>
      </p:sp>
      <p:pic>
        <p:nvPicPr>
          <p:cNvPr id="6" name="Image 0" descr="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346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8163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4434840" y="2816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auctions, active participants, top Source/Sink pairs</a:t>
            </a:r>
            <a:endParaRPr lang="en-US" sz="1250" dirty="0"/>
          </a:p>
        </p:txBody>
      </p:sp>
      <p:pic>
        <p:nvPicPr>
          <p:cNvPr id="9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564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34381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analysis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343814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MW, notional, and pairs traded per participant</a:t>
            </a:r>
            <a:endParaRPr lang="en-US" sz="1250" dirty="0"/>
          </a:p>
        </p:txBody>
      </p:sp>
      <p:pic>
        <p:nvPicPr>
          <p:cNvPr id="12" name="Image 2" descr="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7822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0599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Source/Sink explorer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4434840" y="405993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pricing &amp; congestion trends, Obligation + Option</a:t>
            </a:r>
            <a:endParaRPr lang="en-US" sz="1250" dirty="0"/>
          </a:p>
        </p:txBody>
      </p:sp>
      <p:pic>
        <p:nvPicPr>
          <p:cNvPr id="15" name="Image 3" descr="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001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4681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analytics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4434840" y="46817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Average, min/max, volatility, and trend</a:t>
            </a:r>
            <a:endParaRPr lang="en-US" sz="1250" dirty="0"/>
          </a:p>
        </p:txBody>
      </p:sp>
      <p:pic>
        <p:nvPicPr>
          <p:cNvPr id="18" name="Image 4" descr="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2180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5303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4434840" y="5303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Low / Medium / High signal for further investigation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across the whole lifecycle, not just the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5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06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designing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what ERCOT actually publishes (and what's programmatically reachable) before writing any code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10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requirements with AI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the capstone brief into a full functional/non-functional requirements doc with traceable acceptance criteria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63640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15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65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tests alongside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analytics/scoring function written as a pure, independently-testable unit from the start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20" name="Image 3" descr="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965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247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37260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before shipping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383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backend tests, plus every UI change checked live in a real browser against the real backend before being called done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WORKFLOW · PROMPT JOURNAL, ENTRIES 1 &amp;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course-correction: data access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“Does ERCOT publish real CRR auction results publicly, and can you actually fetch them from here?”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real &amp; public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30175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ERCOT publishes NP7-802-M / NP7-803-M — Source, Sink, CRR type, clearing price, and CRR Account Holder — free on the MIS Public Area.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28016" cy="128016"/>
          </a:xfrm>
          <a:prstGeom prst="ellipse">
            <a:avLst/>
          </a:prstGeom>
          <a:solidFill>
            <a:srgbClr val="E8B3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794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pass: not scriptable here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mis.ercot.com file browser is JS-driven and session-gated; a direct fetch returned an empty file list — no stable unauthenticated URL, so v1 shipped on a labeled synthetic generator instead.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572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Re-checked later, found the real path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45720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follow-up session tested ERCOT's older, legacy MIS servlet directly with curl instead of trusting the earlier conclusion — reachable, unauthenticated, serving the real files.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349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default: 1.1M real records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5349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months of real CRR Monthly Auction Results and the real 521-company Market Participants List, bundled in this repo — synthetic data is now the fallback, not the default.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tested core, one real dataset, one console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1.1M real ERCOT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 auction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(bundled)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 fallback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8288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9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057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747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core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(pure functions,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I/O)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89320" y="18288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13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57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179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/api/participants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/api/live/binding-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732520" y="18288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17" name="Image 3" descr="icons/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2057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11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console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89611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· Explorer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 · Signals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Binding constraints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92608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41248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502920" y="457200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1A1E12"/>
          </a:solidFill>
          <a:ln w="12700">
            <a:solidFill>
              <a:srgbClr val="3A3D1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572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pytest tests exercise the analytics core AND the API layer. The React console never computes an average, a trend, or a score itself — it only renders what the tested core already produced.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pages, one real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18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65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real auction month, MW awarded, hot paths by notional, top participants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Source/Sink Explorer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43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any of the 30 tracked corridors (or compare up to 3 at once); Obligation vs. Option auction price history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20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377 real CRR Account Holders; certificates, strict CRR-type filtering, and real settlement value by participant/path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950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Settlements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2976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path actually settled — real ERCOT Day-Ahead SPPs (Sink minus Source), not the auction price; the legacy Low/Medium/High auction-based score is kept as one demoted line, not deleted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727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Constraints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ERCOT transmission constraints right now — a separate, real-time clock from the settled auction data, real shadow prices with no invented severity label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SWITCH TO LIVE APPLICATION — return here only if the connection drops ]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FALLBACK · LEGACY AUCTION-BASED SIGNAL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Top-scoring Source/Sink corridors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Demoted to a secondary signal on the Path Settlements page — real ERCOT settlement value is the primary one now.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874520"/>
          <a:ext cx="11155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the app's own scoring.py output — not hand-picked for the deck.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FALLBACK · PARTICIPANT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participants by total notional value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00200"/>
          <a:ext cx="11155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377 tracked participants and 1,120,889 auction records, 2025-10 – 2026-10.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PROOF, NOT JUST A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know it's actually correct</a:t>
            </a:r>
            <a:endParaRPr lang="en-US" sz="3000" dirty="0"/>
          </a:p>
        </p:txBody>
      </p:sp>
      <p:pic>
        <p:nvPicPr>
          <p:cNvPr id="4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691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192/192 backend tests pass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20574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scoring, ingestion (including real ERCOT column parsing), live-API client, and every FastAPI endpoint — re-run after every change, not just once</a:t>
            </a:r>
            <a:endParaRPr lang="en-US" sz="1200" dirty="0"/>
          </a:p>
        </p:txBody>
      </p:sp>
      <p:pic>
        <p:nvPicPr>
          <p:cNvPr id="7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2697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 is behavior-tested, not just shape-tested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30632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synthetic strong pair (high/rising/consistent/liquid) is asserted to outrank a synthetic weak pair — the score reacts to what it claims to</a:t>
            </a:r>
            <a:endParaRPr lang="en-US" sz="1200" dirty="0"/>
          </a:p>
        </p:txBody>
      </p:sp>
      <p:pic>
        <p:nvPicPr>
          <p:cNvPr id="10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3703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bug the tests alone wouldn't have caught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097280" y="4069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was quietly serving synthetic data through one code path while Streamlit showed real data through another — found by comparing the two live, not by re-reading either one</a:t>
            </a:r>
            <a:endParaRPr lang="en-US" sz="1200" dirty="0"/>
          </a:p>
        </p:txBody>
      </p:sp>
      <p:pic>
        <p:nvPicPr>
          <p:cNvPr id="13" name="Image 3" descr="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4709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UI change verified in a real running browser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backend + live frontend, clicked/hovered/typed through with real data on screen, not just component tests against mocks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made easier — and what still needed judgment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ACCELERATED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Scaffolding a full-stack app (API + tests + UI) in one sitting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20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Writing comprehensive unit tests alongside — not after — the logic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7238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Producing a requirements doc with traceable acceptance criteria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0273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Rebuilding the whole frontend around a new design system in one review cycle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3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JUDGMENT CALLS THAT STILL NEEDED A HUMAN FRAME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01168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Verifying real-world data access before designing around 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54203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Deciding scoring should be explainable rules, not a black box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07238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Being explicit — in the UI itself — about synthetic vs. real data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60273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Scrapping a working map feature once it stopped serving the trader, rather than polishing it further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109960" cy="0"/>
          </a:xfrm>
          <a:prstGeom prst="line">
            <a:avLst/>
          </a:prstGeom>
          <a:noFill/>
          <a:ln w="12700">
            <a:solidFill>
              <a:srgbClr val="2329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write-up: docs/lessons_learned_and_future_work.md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Auto-refreshing data cache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07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caches the real dataset for process lifetime; a new auction month needs a restart to appear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9" name="Image 1" descr="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2628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 against DAM/RTM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2907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realized congestion to auction-cleared CRR value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244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13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659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bands on the score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29077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sample-size uncertainty, not just a single number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37033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17" name="Image 3" descr="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view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 user's own CRR holdings, not just the tracked universe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297680" y="37033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21" name="Image 4" descr="icons/git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9319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2628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constraints to corridors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526280" y="4873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Constraints is a real, live, searchable list today; connecting a constraint to the specific tracked pair it affects is the next step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092440" y="37033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12161F"/>
          </a:solidFill>
          <a:ln w="12700">
            <a:solidFill>
              <a:srgbClr val="232937"/>
            </a:solidFill>
            <a:prstDash val="solid"/>
          </a:ln>
        </p:spPr>
      </p:sp>
      <p:pic>
        <p:nvPicPr>
          <p:cNvPr id="25" name="Image 5" descr="icons/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93192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2104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Regime-change alerting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8321040" y="4873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when a pair crosses a tier boundary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3017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discussion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4114800"/>
            <a:ext cx="2926080" cy="0"/>
          </a:xfrm>
          <a:prstGeom prst="line">
            <a:avLst/>
          </a:prstGeom>
          <a:noFill/>
          <a:ln w="12700">
            <a:solidFill>
              <a:srgbClr val="2329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Repository: ercot-crr-analytics/  ·  192/192 tests passing  ·  README.md has full setup instructions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2026-09-22T12:32:59Z</dcterms:created>
  <dcterms:modified xsi:type="dcterms:W3CDTF">2026-09-22T12:32:59Z</dcterms:modified>
</cp:coreProperties>
</file>